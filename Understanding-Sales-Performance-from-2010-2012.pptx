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Brygada 1918" panose="020B0604020202020204" charset="0"/>
      <p:regular r:id="rId13"/>
    </p:embeddedFont>
    <p:embeddedFont>
      <p:font typeface="Brygada 1918 Bold" panose="020B0604020202020204" charset="0"/>
      <p:regular r:id="rId14"/>
    </p:embeddedFont>
    <p:embeddedFont>
      <p:font typeface="Brygada 1918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3372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47617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Walmart Sales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350294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Understanding Sales Performance from 2010–2012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5079305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Diya Sarah James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· Data Analyst Portfolio Project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0012"/>
            <a:ext cx="1753350" cy="287139"/>
          </a:xfrm>
          <a:prstGeom prst="roundRect">
            <a:avLst>
              <a:gd name="adj" fmla="val 49999"/>
            </a:avLst>
          </a:prstGeom>
          <a:solidFill>
            <a:srgbClr val="EAEDD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26666"/>
            <a:ext cx="213612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BUSINESS PROBLEM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327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What Are We Trying to Understand?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80687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Walmart operates across multiple stores, generating large volumes of weekly sales data. This project analyzes sales performance across </a:t>
            </a: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2010, 2011, and 2012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to identify meaningful trends and patterns.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624336"/>
            <a:ext cx="5339820" cy="1101824"/>
          </a:xfrm>
          <a:prstGeom prst="roundRect">
            <a:avLst>
              <a:gd name="adj" fmla="val 25733"/>
            </a:avLst>
          </a:prstGeom>
          <a:solidFill>
            <a:srgbClr val="626C3B"/>
          </a:solidFill>
          <a:ln w="6350">
            <a:solidFill>
              <a:srgbClr val="7B8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6832" y="2819698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Year-over-Year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6832" y="3228380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Annual sales performance comparison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624336"/>
            <a:ext cx="5339919" cy="1101824"/>
          </a:xfrm>
          <a:prstGeom prst="roundRect">
            <a:avLst>
              <a:gd name="adj" fmla="val 25733"/>
            </a:avLst>
          </a:prstGeom>
          <a:solidFill>
            <a:srgbClr val="83792E"/>
          </a:solidFill>
          <a:ln w="6350">
            <a:solidFill>
              <a:srgbClr val="9C92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5658" y="2819698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Store-Level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85658" y="3228380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Performance across 45 stores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915172"/>
            <a:ext cx="5339820" cy="1101824"/>
          </a:xfrm>
          <a:prstGeom prst="roundRect">
            <a:avLst>
              <a:gd name="adj" fmla="val 25733"/>
            </a:avLst>
          </a:prstGeom>
          <a:solidFill>
            <a:srgbClr val="E8AF3B"/>
          </a:solidFill>
          <a:ln w="6350">
            <a:solidFill>
              <a:srgbClr val="CE95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11053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Seasonal Trends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519216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Monthly and holiday patterns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3915172"/>
            <a:ext cx="5339919" cy="1101824"/>
          </a:xfrm>
          <a:prstGeom prst="roundRect">
            <a:avLst>
              <a:gd name="adj" fmla="val 25733"/>
            </a:avLst>
          </a:prstGeom>
          <a:solidFill>
            <a:srgbClr val="CC914D"/>
          </a:solidFill>
          <a:ln w="6350">
            <a:solidFill>
              <a:srgbClr val="B277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5658" y="4110534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External Factors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85658" y="4519216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Temperature, fuel, CPI, unemployment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1475" y="5229622"/>
            <a:ext cx="10868745" cy="1058366"/>
          </a:xfrm>
          <a:prstGeom prst="roundRect">
            <a:avLst>
              <a:gd name="adj" fmla="val 26789"/>
            </a:avLst>
          </a:prstGeom>
          <a:solidFill>
            <a:srgbClr val="EAEDDE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497314"/>
            <a:ext cx="236234" cy="18901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75723" y="5465862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Key Question:</a:t>
            </a:r>
            <a:r>
              <a:rPr lang="en-US" sz="14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"How did Walmart's sales performance change between 2010 and 2012, and what key patterns can be identified across stores, months, holidays, and external factors?"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1855"/>
            <a:ext cx="1195655" cy="219869"/>
          </a:xfrm>
          <a:prstGeom prst="roundRect">
            <a:avLst>
              <a:gd name="adj" fmla="val 49999"/>
            </a:avLst>
          </a:prstGeom>
          <a:solidFill>
            <a:srgbClr val="EAEDDE"/>
          </a:solidFill>
          <a:ln/>
        </p:spPr>
      </p:sp>
      <p:sp>
        <p:nvSpPr>
          <p:cNvPr id="3" name="Text 1"/>
          <p:cNvSpPr/>
          <p:nvPr/>
        </p:nvSpPr>
        <p:spPr>
          <a:xfrm>
            <a:off x="748289" y="595213"/>
            <a:ext cx="1631612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DATASET &amp;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15975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Project Data at a Glance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61475" y="1506736"/>
            <a:ext cx="5365120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6,435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661475" y="2139652"/>
            <a:ext cx="536512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Weekly Sales Records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65001" y="1506736"/>
            <a:ext cx="5365219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45</a:t>
            </a:r>
            <a:endParaRPr lang="en-US" sz="3750" dirty="0"/>
          </a:p>
        </p:txBody>
      </p:sp>
      <p:sp>
        <p:nvSpPr>
          <p:cNvPr id="8" name="Text 6"/>
          <p:cNvSpPr/>
          <p:nvPr/>
        </p:nvSpPr>
        <p:spPr>
          <a:xfrm>
            <a:off x="6165001" y="2139652"/>
            <a:ext cx="536521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Walmart Stores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1475" y="2659559"/>
            <a:ext cx="5365120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3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661475" y="3292475"/>
            <a:ext cx="536512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Years Analyzed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1475" y="3584972"/>
            <a:ext cx="536512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2010, 2011 &amp; 2012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65001" y="2659559"/>
            <a:ext cx="5365219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8</a:t>
            </a:r>
            <a:endParaRPr lang="en-US" sz="3750" dirty="0"/>
          </a:p>
        </p:txBody>
      </p:sp>
      <p:sp>
        <p:nvSpPr>
          <p:cNvPr id="13" name="Text 11"/>
          <p:cNvSpPr/>
          <p:nvPr/>
        </p:nvSpPr>
        <p:spPr>
          <a:xfrm>
            <a:off x="6165001" y="3292475"/>
            <a:ext cx="536521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Original Variables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1475" y="4024709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Original Variables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1475" y="4361458"/>
            <a:ext cx="5257867" cy="1905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Store</a:t>
            </a:r>
            <a:endParaRPr lang="en-US" sz="1100" dirty="0"/>
          </a:p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Date</a:t>
            </a:r>
            <a:endParaRPr lang="en-US" sz="1100" dirty="0"/>
          </a:p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Weekly Sales</a:t>
            </a:r>
            <a:endParaRPr lang="en-US" sz="1100" dirty="0"/>
          </a:p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Holiday Flag</a:t>
            </a:r>
            <a:endParaRPr lang="en-US" sz="1100" dirty="0"/>
          </a:p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Temperature</a:t>
            </a:r>
            <a:endParaRPr lang="en-US" sz="1100" dirty="0"/>
          </a:p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Fuel Price</a:t>
            </a:r>
            <a:endParaRPr lang="en-US" sz="1100" dirty="0"/>
          </a:p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CPI</a:t>
            </a:r>
            <a:endParaRPr lang="en-US" sz="1100" dirty="0"/>
          </a:p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Unemployment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78703" y="4024709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Engineered Features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78703" y="4361458"/>
            <a:ext cx="5257867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Additional date-based features were created during data preparation to support time-series analysis: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78703" y="4869954"/>
            <a:ext cx="5257867" cy="933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Year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Annual grouping</a:t>
            </a:r>
            <a:endParaRPr lang="en-US" sz="1100" dirty="0"/>
          </a:p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Month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Seasonal analysis</a:t>
            </a:r>
            <a:endParaRPr lang="en-US" sz="1100" dirty="0"/>
          </a:p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Day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Granular breakdown</a:t>
            </a:r>
            <a:endParaRPr lang="en-US" sz="1100" dirty="0"/>
          </a:p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Month Name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Readable labels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1614"/>
            <a:ext cx="1129875" cy="228898"/>
          </a:xfrm>
          <a:prstGeom prst="roundRect">
            <a:avLst>
              <a:gd name="adj" fmla="val 49999"/>
            </a:avLst>
          </a:prstGeom>
          <a:solidFill>
            <a:srgbClr val="EAEDDE"/>
          </a:solidFill>
          <a:ln/>
        </p:spPr>
      </p:sp>
      <p:sp>
        <p:nvSpPr>
          <p:cNvPr id="3" name="Text 1"/>
          <p:cNvSpPr/>
          <p:nvPr/>
        </p:nvSpPr>
        <p:spPr>
          <a:xfrm>
            <a:off x="751762" y="576759"/>
            <a:ext cx="1558886" cy="13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08434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Data Preparation &amp; Analysis Workflow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459012"/>
            <a:ext cx="11478330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 structured, end-to-end pipeline transformed raw Walmart sales data into actionable business insights.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810445"/>
            <a:ext cx="10520595" cy="39479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36045" y="4799966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Insights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336215" y="4799966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Power BI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347253" y="4799966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SQL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358291" y="4799966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Python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325854" y="4799966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Raw Data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61475" y="5893296"/>
            <a:ext cx="1086874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Each stage builds on the last — from cleaning and structuring raw data in Python, to querying with SQL, and finally visualizing results in an interactive Power BI dashboard for stakeholder-ready reporting.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24991"/>
            <a:ext cx="2738865" cy="287139"/>
          </a:xfrm>
          <a:prstGeom prst="roundRect">
            <a:avLst>
              <a:gd name="adj" fmla="val 49999"/>
            </a:avLst>
          </a:prstGeom>
          <a:solidFill>
            <a:srgbClr val="EAEDD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81645"/>
            <a:ext cx="312164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YEAR-OVER-YEAR PERFORMANCE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877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Total Sales by Year: 2010–2012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74478"/>
            <a:ext cx="5203794" cy="37458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32776" y="215086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Key Observation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2635151"/>
            <a:ext cx="5203794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2011 recorded the highest total sales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among the three years at </a:t>
            </a:r>
            <a:r>
              <a:rPr lang="en-US" sz="1450" dirty="0">
                <a:solidFill>
                  <a:srgbClr val="F20374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$2.448B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while 2012 recorded the lowest at </a:t>
            </a:r>
            <a:r>
              <a:rPr lang="en-US" sz="1450" dirty="0">
                <a:solidFill>
                  <a:srgbClr val="F20374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$2.000B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Sales rose from 2010 to 2011, then declined in 2012. This pattern suggests shifting market conditions or operational changes worth further investigation.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8091"/>
            <a:ext cx="1677648" cy="287139"/>
          </a:xfrm>
          <a:prstGeom prst="roundRect">
            <a:avLst>
              <a:gd name="adj" fmla="val 49999"/>
            </a:avLst>
          </a:prstGeom>
          <a:solidFill>
            <a:srgbClr val="EAEDD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54745"/>
            <a:ext cx="206042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SEASONAL TRENDS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608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Monthly Average Sales: Identifying Peak Seasons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47577"/>
            <a:ext cx="5203794" cy="37458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32776" y="202396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Seasonal Insight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2508250"/>
            <a:ext cx="5203794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F20374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December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had the highest average monthly sales at </a:t>
            </a: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$1.282M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followed by </a:t>
            </a:r>
            <a:r>
              <a:rPr lang="en-US" sz="1450" b="1" dirty="0">
                <a:solidFill>
                  <a:srgbClr val="F20374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November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at </a:t>
            </a: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$1.147M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 year-end surge reflects strong holiday shopping behavior. Identifying these seasonal peaks supports better planning around </a:t>
            </a: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inventory, staffing, and promotional campaigns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32776" y="4705449"/>
            <a:ext cx="5203794" cy="1341834"/>
          </a:xfrm>
          <a:prstGeom prst="roundRect">
            <a:avLst>
              <a:gd name="adj" fmla="val 21130"/>
            </a:avLst>
          </a:prstGeom>
          <a:solidFill>
            <a:srgbClr val="EAEDD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783" y="4985841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7024" y="4922738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Note: Monthly values for Jan–Oct are illustrative placeholders. Replace with actual computed values from your analysis.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8091"/>
            <a:ext cx="1676358" cy="287139"/>
          </a:xfrm>
          <a:prstGeom prst="roundRect">
            <a:avLst>
              <a:gd name="adj" fmla="val 49999"/>
            </a:avLst>
          </a:prstGeom>
          <a:solidFill>
            <a:srgbClr val="EAEDD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54745"/>
            <a:ext cx="205913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HOLIDAY ANALYSIS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608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Holiday vs. Non-Holiday Weekly Sales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47577"/>
            <a:ext cx="5203794" cy="37458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32776" y="202396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Key Finding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2508250"/>
            <a:ext cx="5203794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Average weekly sales were </a:t>
            </a:r>
            <a:r>
              <a:rPr lang="en-US" sz="1450" b="1" dirty="0">
                <a:solidFill>
                  <a:srgbClr val="F20374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higher during holiday weeks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($1.123M) compared to non-holiday weeks ($1.041M) across the analyzed dataset.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This consistent uplift during holiday periods highlights the importance of targeted promotions and inventory preparation around key calendar events.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32776" y="4705449"/>
            <a:ext cx="5203794" cy="1341834"/>
          </a:xfrm>
          <a:prstGeom prst="roundRect">
            <a:avLst>
              <a:gd name="adj" fmla="val 21130"/>
            </a:avLst>
          </a:prstGeom>
          <a:solidFill>
            <a:srgbClr val="EAEDD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783" y="4985841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7024" y="4922738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This analysis identifies an association in historical data and does not establish that holidays alone caused the difference.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2011"/>
            <a:ext cx="1909616" cy="287139"/>
          </a:xfrm>
          <a:prstGeom prst="roundRect">
            <a:avLst>
              <a:gd name="adj" fmla="val 49999"/>
            </a:avLst>
          </a:prstGeom>
          <a:solidFill>
            <a:srgbClr val="EAEDD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588665"/>
            <a:ext cx="229239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STORE PERFORMANCE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8947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Top 10 Stores by Total Sales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81498"/>
            <a:ext cx="5203794" cy="37458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32776" y="195788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Store-Level Insights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2442170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Store performance varies considerably across the 45 locations. Identifying high-performing stores helps understand where sales are most concentrated.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32776" y="3519487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Supports </a:t>
            </a: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resource allocation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decisions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Informs </a:t>
            </a: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inventory planning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by location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Enables </a:t>
            </a: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performance benchmarking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across stores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32776" y="4771529"/>
            <a:ext cx="5203794" cy="1341834"/>
          </a:xfrm>
          <a:prstGeom prst="roundRect">
            <a:avLst>
              <a:gd name="adj" fmla="val 21130"/>
            </a:avLst>
          </a:prstGeom>
          <a:solidFill>
            <a:srgbClr val="EAEDD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783" y="5051921"/>
            <a:ext cx="236234" cy="189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7024" y="4988818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Chart values are illustrative placeholders. Reference the Power BI dashboard for actual store-level figures.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8758"/>
            <a:ext cx="1442406" cy="237827"/>
          </a:xfrm>
          <a:prstGeom prst="roundRect">
            <a:avLst>
              <a:gd name="adj" fmla="val 49999"/>
            </a:avLst>
          </a:prstGeom>
          <a:solidFill>
            <a:srgbClr val="EAEDDE"/>
          </a:solidFill>
          <a:ln/>
        </p:spPr>
      </p:sp>
      <p:sp>
        <p:nvSpPr>
          <p:cNvPr id="3" name="Text 1"/>
          <p:cNvSpPr/>
          <p:nvPr/>
        </p:nvSpPr>
        <p:spPr>
          <a:xfrm>
            <a:off x="755333" y="585688"/>
            <a:ext cx="1864274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EXTERNAL FACTORS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28377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Correlation Analysis: Sales vs. External Variables</a:t>
            </a:r>
            <a:endParaRPr lang="en-US" sz="3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57648"/>
            <a:ext cx="5243481" cy="3774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93089" y="1641475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What the Data Shows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93089" y="2015629"/>
            <a:ext cx="5243481" cy="1261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All four external factors show </a:t>
            </a:r>
            <a:r>
              <a:rPr lang="en-US" sz="1200" b="1" dirty="0">
                <a:solidFill>
                  <a:srgbClr val="F20374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weak linear correlations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with weekly sales in this dataset: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These results indicate that none of these individual variables shows a strong linear relationship with weekly sales — though they may still have meaningful impact in combination with other factors.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723533"/>
            <a:ext cx="2620004" cy="5956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3187" y="5899051"/>
            <a:ext cx="219277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Temperature: −0.064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1055" y="5723533"/>
            <a:ext cx="2620004" cy="5956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62767" y="5899051"/>
            <a:ext cx="219277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Fuel Price: 0.009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0636" y="5723533"/>
            <a:ext cx="2620004" cy="5956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12347" y="5899051"/>
            <a:ext cx="219277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CPI: −0.073</a:t>
            </a:r>
            <a:endParaRPr lang="en-US" sz="15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10216" y="5723533"/>
            <a:ext cx="2620004" cy="59561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61928" y="5899051"/>
            <a:ext cx="219277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Unemployment: −0.106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4113"/>
            <a:ext cx="1234746" cy="287139"/>
          </a:xfrm>
          <a:prstGeom prst="roundRect">
            <a:avLst>
              <a:gd name="adj" fmla="val 49999"/>
            </a:avLst>
          </a:prstGeom>
          <a:solidFill>
            <a:srgbClr val="EAEDD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40767"/>
            <a:ext cx="161752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468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Key Insights &amp; Takeaways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1920974"/>
            <a:ext cx="3496877" cy="1713012"/>
          </a:xfrm>
          <a:prstGeom prst="roundRect">
            <a:avLst>
              <a:gd name="adj" fmla="val 16551"/>
            </a:avLst>
          </a:prstGeom>
          <a:solidFill>
            <a:srgbClr val="626C3B"/>
          </a:solidFill>
          <a:ln w="6350">
            <a:solidFill>
              <a:srgbClr val="7B85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6832" y="2116336"/>
            <a:ext cx="310616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📈</a:t>
            </a:r>
            <a:r>
              <a:rPr lang="en-US" sz="18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2011 Peak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2531368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Highest total sales at </a:t>
            </a:r>
            <a:r>
              <a:rPr lang="en-US" sz="1450" b="1" dirty="0">
                <a:solidFill>
                  <a:srgbClr val="FFFFFF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$2.448B</a:t>
            </a:r>
            <a:r>
              <a:rPr lang="en-US" sz="14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; 2012 declined to $2.000B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1920974"/>
            <a:ext cx="3496877" cy="1713012"/>
          </a:xfrm>
          <a:prstGeom prst="roundRect">
            <a:avLst>
              <a:gd name="adj" fmla="val 16551"/>
            </a:avLst>
          </a:prstGeom>
          <a:solidFill>
            <a:srgbClr val="83792E"/>
          </a:solidFill>
          <a:ln w="6350">
            <a:solidFill>
              <a:srgbClr val="9C92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2716" y="2116336"/>
            <a:ext cx="310616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🎄</a:t>
            </a:r>
            <a:r>
              <a:rPr lang="en-US" sz="18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Seasonal Lift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542716" y="2531368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December led monthly averages at </a:t>
            </a:r>
            <a:r>
              <a:rPr lang="en-US" sz="1450" b="1" dirty="0">
                <a:solidFill>
                  <a:srgbClr val="FFFFFF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$1.282M</a:t>
            </a:r>
            <a:r>
              <a:rPr lang="en-US" sz="14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; November second at $1.147M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1920974"/>
            <a:ext cx="3496877" cy="1713012"/>
          </a:xfrm>
          <a:prstGeom prst="roundRect">
            <a:avLst>
              <a:gd name="adj" fmla="val 16551"/>
            </a:avLst>
          </a:prstGeom>
          <a:solidFill>
            <a:srgbClr val="E8AF3B"/>
          </a:solidFill>
          <a:ln w="6350">
            <a:solidFill>
              <a:srgbClr val="CE95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8600" y="2116336"/>
            <a:ext cx="310616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🎉</a:t>
            </a:r>
            <a:r>
              <a:rPr lang="en-US" sz="185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Holiday Uplift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28600" y="2531368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Holiday weeks averaged </a:t>
            </a:r>
            <a:r>
              <a:rPr lang="en-US" sz="145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$1.123M</a:t>
            </a:r>
            <a:r>
              <a:rPr lang="en-US" sz="14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vs. $1.041M for non-holiday weeks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3822998"/>
            <a:ext cx="5339820" cy="1410593"/>
          </a:xfrm>
          <a:prstGeom prst="roundRect">
            <a:avLst>
              <a:gd name="adj" fmla="val 20100"/>
            </a:avLst>
          </a:prstGeom>
          <a:solidFill>
            <a:srgbClr val="CC914D"/>
          </a:solidFill>
          <a:ln w="6350">
            <a:solidFill>
              <a:srgbClr val="B277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6832" y="4018359"/>
            <a:ext cx="494910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🏪</a:t>
            </a:r>
            <a:r>
              <a:rPr lang="en-US" sz="185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Store Variation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56832" y="4433391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Performance varies considerably across all </a:t>
            </a:r>
            <a:r>
              <a:rPr lang="en-US" sz="145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45 stores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90301" y="3822998"/>
            <a:ext cx="5339820" cy="1410593"/>
          </a:xfrm>
          <a:prstGeom prst="roundRect">
            <a:avLst>
              <a:gd name="adj" fmla="val 20100"/>
            </a:avLst>
          </a:prstGeom>
          <a:solidFill>
            <a:srgbClr val="626C3B"/>
          </a:solidFill>
          <a:ln w="6350">
            <a:solidFill>
              <a:srgbClr val="7B85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5658" y="4018359"/>
            <a:ext cx="494910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🌡️</a:t>
            </a:r>
            <a:r>
              <a:rPr lang="en-US" sz="18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External Factors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385658" y="4433391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Temperature, fuel, CPI, and unemployment showed </a:t>
            </a:r>
            <a:r>
              <a:rPr lang="en-US" sz="1450" b="1" dirty="0">
                <a:solidFill>
                  <a:srgbClr val="FFFFFF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weak linear correlations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44936" y="5658842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"Turning historical sales data into actionable business insights."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61475" y="5446216"/>
            <a:ext cx="25399" cy="727670"/>
          </a:xfrm>
          <a:prstGeom prst="roundRect">
            <a:avLst>
              <a:gd name="adj" fmla="val 50001"/>
            </a:avLst>
          </a:prstGeom>
          <a:solidFill>
            <a:srgbClr val="626C3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687</Words>
  <Application>Microsoft Office PowerPoint</Application>
  <PresentationFormat>Widescreen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Noto Color Emoji</vt:lpstr>
      <vt:lpstr>Brygada 1918 SemiBold</vt:lpstr>
      <vt:lpstr>Brygada 1918</vt:lpstr>
      <vt:lpstr>Arial</vt:lpstr>
      <vt:lpstr>Brygada 1918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DIYA SARAH JAMES</dc:creator>
  <cp:lastModifiedBy>DIYA SARAH JAMES</cp:lastModifiedBy>
  <cp:revision>1</cp:revision>
  <dcterms:created xsi:type="dcterms:W3CDTF">2026-09-23T08:04:51Z</dcterms:created>
  <dcterms:modified xsi:type="dcterms:W3CDTF">2026-09-23T08:02:40Z</dcterms:modified>
</cp:coreProperties>
</file>